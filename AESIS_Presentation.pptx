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59" d="100"/>
          <a:sy n="159" d="100"/>
        </p:scale>
        <p:origin x="184" y="2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2724211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CFB991"/>
          </a:solidFill>
          <a:ln w="12700">
            <a:solidFill>
              <a:srgbClr val="CFB99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6858000" y="0"/>
            <a:ext cx="2286000" cy="64008"/>
          </a:xfrm>
          <a:prstGeom prst="rect">
            <a:avLst/>
          </a:prstGeom>
          <a:solidFill>
            <a:srgbClr val="CFB991"/>
          </a:solidFill>
          <a:ln w="12700">
            <a:solidFill>
              <a:srgbClr val="CFB99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9079992" y="0"/>
            <a:ext cx="64008" cy="2286000"/>
          </a:xfrm>
          <a:prstGeom prst="rect">
            <a:avLst/>
          </a:prstGeom>
          <a:solidFill>
            <a:srgbClr val="CFB991"/>
          </a:solidFill>
          <a:ln w="12700">
            <a:solidFill>
              <a:srgbClr val="CFB99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109728" y="5079492"/>
            <a:ext cx="9034272" cy="64008"/>
          </a:xfrm>
          <a:prstGeom prst="rect">
            <a:avLst/>
          </a:prstGeom>
          <a:solidFill>
            <a:srgbClr val="CFB991"/>
          </a:solidFill>
          <a:ln w="12700">
            <a:solidFill>
              <a:srgbClr val="CFB99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365760" y="530352"/>
            <a:ext cx="73152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kern="0" spc="300" dirty="0">
                <a:solidFill>
                  <a:srgbClr val="CFB9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MGMT 598|Group 1  ·  Finance | Text AI  ·  Purdue University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365760" y="960120"/>
            <a:ext cx="841248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200" b="1" dirty="0">
                <a:solidFill>
                  <a:srgbClr val="CFB9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AESIS</a:t>
            </a:r>
            <a:endParaRPr lang="en-US" sz="8200" dirty="0"/>
          </a:p>
        </p:txBody>
      </p:sp>
      <p:sp>
        <p:nvSpPr>
          <p:cNvPr id="8" name="Text 6"/>
          <p:cNvSpPr/>
          <p:nvPr/>
        </p:nvSpPr>
        <p:spPr>
          <a:xfrm>
            <a:off x="365760" y="2121408"/>
            <a:ext cx="84124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 Earnings Signal Intelligence System</a:t>
            </a:r>
            <a:endParaRPr lang="en-US" sz="2200" dirty="0"/>
          </a:p>
        </p:txBody>
      </p:sp>
      <p:sp>
        <p:nvSpPr>
          <p:cNvPr id="9" name="Shape 7"/>
          <p:cNvSpPr/>
          <p:nvPr/>
        </p:nvSpPr>
        <p:spPr>
          <a:xfrm>
            <a:off x="365760" y="2724912"/>
            <a:ext cx="3200400" cy="36576"/>
          </a:xfrm>
          <a:prstGeom prst="rect">
            <a:avLst/>
          </a:prstGeom>
          <a:solidFill>
            <a:srgbClr val="CFB991"/>
          </a:solidFill>
          <a:ln w="12700">
            <a:solidFill>
              <a:srgbClr val="CFB99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365760" y="2889504"/>
            <a:ext cx="1993392" cy="347472"/>
          </a:xfrm>
          <a:prstGeom prst="rect">
            <a:avLst/>
          </a:prstGeom>
          <a:solidFill>
            <a:srgbClr val="1A1A1A"/>
          </a:solidFill>
          <a:ln w="12700">
            <a:solidFill>
              <a:srgbClr val="CFB99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365760" y="2889504"/>
            <a:ext cx="199339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CFB9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 Modality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514600" y="2889504"/>
            <a:ext cx="1993392" cy="347472"/>
          </a:xfrm>
          <a:prstGeom prst="rect">
            <a:avLst/>
          </a:prstGeom>
          <a:solidFill>
            <a:srgbClr val="1A1A1A"/>
          </a:solidFill>
          <a:ln w="12700">
            <a:solidFill>
              <a:srgbClr val="CFB99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2514600" y="2889504"/>
            <a:ext cx="199339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CFB9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 RAG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663440" y="2889504"/>
            <a:ext cx="1993392" cy="347472"/>
          </a:xfrm>
          <a:prstGeom prst="rect">
            <a:avLst/>
          </a:prstGeom>
          <a:solidFill>
            <a:srgbClr val="1A1A1A"/>
          </a:solidFill>
          <a:ln w="12700">
            <a:solidFill>
              <a:srgbClr val="CFB99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4663440" y="2889504"/>
            <a:ext cx="199339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CFB9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Divergence Analysis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6812280" y="2889504"/>
            <a:ext cx="1993392" cy="347472"/>
          </a:xfrm>
          <a:prstGeom prst="rect">
            <a:avLst/>
          </a:prstGeom>
          <a:solidFill>
            <a:srgbClr val="1A1A1A"/>
          </a:solidFill>
          <a:ln w="12700">
            <a:solidFill>
              <a:srgbClr val="CFB99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6812280" y="2889504"/>
            <a:ext cx="199339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CFB9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Signal Score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365760" y="4005072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CFB9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Autonomous. </a:t>
            </a:r>
            <a:r>
              <a:rPr lang="en-US" sz="1600" dirty="0">
                <a:solidFill>
                  <a:srgbClr val="BBBB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the analyst opens the file.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AF7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11480" y="0"/>
            <a:ext cx="64008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kern="0" spc="400" dirty="0">
                <a:solidFill>
                  <a:srgbClr val="CFB9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7772400" y="0"/>
            <a:ext cx="1188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2 of 8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11480" y="804672"/>
            <a:ext cx="8321040" cy="9875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7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Analysts are managing positions and serving clients </a:t>
            </a:r>
            <a:r>
              <a:rPr lang="en-US" sz="17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while 50+ transcripts pile up each week.</a:t>
            </a:r>
            <a:endParaRPr lang="en-US" sz="17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7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highest-value signal is not in the numbers — </a:t>
            </a:r>
            <a:endParaRPr lang="en-US" sz="17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7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it's in how executives communicate.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320040" y="1920240"/>
            <a:ext cx="2651760" cy="1463040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  <a:effectLst>
            <a:outerShdw blurRad="101600" dist="38100" dir="81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320040" y="1920240"/>
            <a:ext cx="2651760" cy="54864"/>
          </a:xfrm>
          <a:prstGeom prst="rect">
            <a:avLst/>
          </a:prstGeom>
          <a:solidFill>
            <a:srgbClr val="CFB991"/>
          </a:solidFill>
          <a:ln w="12700">
            <a:solidFill>
              <a:srgbClr val="CFB99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320040" y="1975104"/>
            <a:ext cx="26517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CFB9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50+</a:t>
            </a:r>
            <a:endParaRPr lang="en-US" sz="3400" dirty="0"/>
          </a:p>
        </p:txBody>
      </p:sp>
      <p:sp>
        <p:nvSpPr>
          <p:cNvPr id="9" name="Text 7"/>
          <p:cNvSpPr/>
          <p:nvPr/>
        </p:nvSpPr>
        <p:spPr>
          <a:xfrm>
            <a:off x="320040" y="2633472"/>
            <a:ext cx="2651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Transcripts / Week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320040" y="2907792"/>
            <a:ext cx="265176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firm at peak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earnings season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3200400" y="1920240"/>
            <a:ext cx="2651760" cy="1463040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  <a:effectLst>
            <a:outerShdw blurRad="101600" dist="38100" dir="81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3200400" y="1920240"/>
            <a:ext cx="2651760" cy="54864"/>
          </a:xfrm>
          <a:prstGeom prst="rect">
            <a:avLst/>
          </a:prstGeom>
          <a:solidFill>
            <a:srgbClr val="CFB991"/>
          </a:solidFill>
          <a:ln w="12700">
            <a:solidFill>
              <a:srgbClr val="CFB99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3200400" y="1975104"/>
            <a:ext cx="26517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CFB9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8K–15K</a:t>
            </a:r>
            <a:endParaRPr lang="en-US" sz="3400" dirty="0"/>
          </a:p>
        </p:txBody>
      </p:sp>
      <p:sp>
        <p:nvSpPr>
          <p:cNvPr id="14" name="Text 12"/>
          <p:cNvSpPr/>
          <p:nvPr/>
        </p:nvSpPr>
        <p:spPr>
          <a:xfrm>
            <a:off x="3200400" y="2633472"/>
            <a:ext cx="2651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Words per Call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3200400" y="2907792"/>
            <a:ext cx="265176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Dense, unstructured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 per transcript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6080760" y="1920240"/>
            <a:ext cx="2651760" cy="1463040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  <a:effectLst>
            <a:outerShdw blurRad="101600" dist="38100" dir="81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6080760" y="1920240"/>
            <a:ext cx="2651760" cy="54864"/>
          </a:xfrm>
          <a:prstGeom prst="rect">
            <a:avLst/>
          </a:prstGeom>
          <a:solidFill>
            <a:srgbClr val="CFB991"/>
          </a:solidFill>
          <a:ln w="12700">
            <a:solidFill>
              <a:srgbClr val="CFB99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6080760" y="1975104"/>
            <a:ext cx="26517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CFB9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~30 min</a:t>
            </a:r>
            <a:endParaRPr lang="en-US" sz="3400" dirty="0"/>
          </a:p>
        </p:txBody>
      </p:sp>
      <p:sp>
        <p:nvSpPr>
          <p:cNvPr id="19" name="Text 17"/>
          <p:cNvSpPr/>
          <p:nvPr/>
        </p:nvSpPr>
        <p:spPr>
          <a:xfrm>
            <a:off x="6080760" y="2633472"/>
            <a:ext cx="2651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Analysis Time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6080760" y="2907792"/>
            <a:ext cx="265176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transcript —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processed too late to act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320040" y="3566160"/>
            <a:ext cx="8503920" cy="1261872"/>
          </a:xfrm>
          <a:prstGeom prst="rect">
            <a:avLst/>
          </a:prstGeom>
          <a:solidFill>
            <a:srgbClr val="F5EDD8"/>
          </a:solidFill>
          <a:ln w="12700">
            <a:solidFill>
              <a:srgbClr val="CFB99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320040" y="3566160"/>
            <a:ext cx="64008" cy="1261872"/>
          </a:xfrm>
          <a:prstGeom prst="rect">
            <a:avLst/>
          </a:prstGeom>
          <a:solidFill>
            <a:srgbClr val="CFB991"/>
          </a:solidFill>
          <a:ln w="12700">
            <a:solidFill>
              <a:srgbClr val="CFB99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502920" y="3566160"/>
            <a:ext cx="8229600" cy="12618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25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Signal Gap: </a:t>
            </a:r>
            <a:r>
              <a:rPr lang="en-US" sz="12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Tone shifts, rising hedging language, and evasive Q&amp;A responses carry measurable predictive value for post-earnings price movement. Research in the </a:t>
            </a:r>
            <a:r>
              <a:rPr lang="en-US" sz="1250" b="1" i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Journal of Finance</a:t>
            </a:r>
            <a:r>
              <a:rPr lang="en-US" sz="12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and </a:t>
            </a:r>
            <a:r>
              <a:rPr lang="en-US" sz="1250" b="1" i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of Financial Studies</a:t>
            </a:r>
            <a:r>
              <a:rPr lang="en-US" sz="12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confirms these linguistic patterns are statistically associated with post-earnings returns. Yet </a:t>
            </a:r>
            <a:r>
              <a:rPr lang="en-US" sz="125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firms have no systematic means of detecting these patterns before human analysts can even open the document.</a:t>
            </a:r>
            <a:endParaRPr lang="en-US" sz="12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CFB991"/>
          </a:solidFill>
          <a:ln w="12700">
            <a:solidFill>
              <a:srgbClr val="CFB99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11480" y="0"/>
            <a:ext cx="64008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kern="0" spc="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 CONTEXT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7772400" y="0"/>
            <a:ext cx="1188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3 of 8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11480" y="777240"/>
            <a:ext cx="8321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i="1" dirty="0">
                <a:solidFill>
                  <a:srgbClr val="CFB9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$1.2B+ invested in transcript intelligence. No one has built autonomy.</a:t>
            </a:r>
            <a:endParaRPr lang="en-US" sz="1450" dirty="0"/>
          </a:p>
        </p:txBody>
      </p:sp>
      <p:sp>
        <p:nvSpPr>
          <p:cNvPr id="6" name="Shape 4"/>
          <p:cNvSpPr/>
          <p:nvPr/>
        </p:nvSpPr>
        <p:spPr>
          <a:xfrm>
            <a:off x="320040" y="1353312"/>
            <a:ext cx="4069080" cy="1572768"/>
          </a:xfrm>
          <a:prstGeom prst="rect">
            <a:avLst/>
          </a:prstGeom>
          <a:solidFill>
            <a:srgbClr val="141414"/>
          </a:solidFill>
          <a:ln w="12700">
            <a:solidFill>
              <a:srgbClr val="CFB991"/>
            </a:solidFill>
            <a:prstDash val="solid"/>
          </a:ln>
          <a:effectLst>
            <a:outerShdw blurRad="101600" dist="38100" dir="81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484632" y="1444752"/>
            <a:ext cx="37490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CFB9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AlphaSense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484632" y="1719072"/>
            <a:ext cx="37490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$650M Raised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484632" y="2066544"/>
            <a:ext cx="3749040" cy="7863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on unstructured transcript search and analysis. Validates commercial demand for NLP-driven financial intelligence at institutional scale.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4709160" y="1353312"/>
            <a:ext cx="4069080" cy="1572768"/>
          </a:xfrm>
          <a:prstGeom prst="rect">
            <a:avLst/>
          </a:prstGeom>
          <a:solidFill>
            <a:srgbClr val="141414"/>
          </a:solidFill>
          <a:ln w="12700">
            <a:solidFill>
              <a:srgbClr val="CFB991"/>
            </a:solidFill>
            <a:prstDash val="solid"/>
          </a:ln>
          <a:effectLst>
            <a:outerShdw blurRad="101600" dist="38100" dir="81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4873752" y="1444752"/>
            <a:ext cx="37490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CFB9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Kensho × S&amp;P Global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4873752" y="1719072"/>
            <a:ext cx="37490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$550M Acquired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4873752" y="2066544"/>
            <a:ext cx="3749040" cy="7863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S&amp;P Global paid a strategic premium for NLP-driven financial event analysis — direct confirmation that transcript intelligence is core infrastructure.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320040" y="3090672"/>
            <a:ext cx="4069080" cy="1572768"/>
          </a:xfrm>
          <a:prstGeom prst="rect">
            <a:avLst/>
          </a:prstGeom>
          <a:solidFill>
            <a:srgbClr val="141414"/>
          </a:solidFill>
          <a:ln w="12700">
            <a:solidFill>
              <a:srgbClr val="CFB991"/>
            </a:solidFill>
            <a:prstDash val="solid"/>
          </a:ln>
          <a:effectLst>
            <a:outerShdw blurRad="101600" dist="38100" dir="81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484632" y="3182112"/>
            <a:ext cx="37490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CFB9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BloombergGPT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484632" y="3456432"/>
            <a:ext cx="37490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50B Parameter LLM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484632" y="3803904"/>
            <a:ext cx="3749040" cy="7863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Trained on financial corpora including earnings transcripts. Signals firm institutional-level conviction that LLMs belong in financial workflows.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4709160" y="3090672"/>
            <a:ext cx="4069080" cy="1572768"/>
          </a:xfrm>
          <a:prstGeom prst="rect">
            <a:avLst/>
          </a:prstGeom>
          <a:solidFill>
            <a:srgbClr val="CFB991"/>
          </a:solidFill>
          <a:ln w="12700">
            <a:solidFill>
              <a:srgbClr val="B89A6A"/>
            </a:solidFill>
            <a:prstDash val="solid"/>
          </a:ln>
          <a:effectLst>
            <a:outerShdw blurRad="101600" dist="38100" dir="81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4873752" y="3182112"/>
            <a:ext cx="37490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AESIS Gap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4873752" y="3456432"/>
            <a:ext cx="37490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Fully Autonomous</a:t>
            </a:r>
            <a:endParaRPr lang="en-US" sz="2000" dirty="0"/>
          </a:p>
        </p:txBody>
      </p:sp>
      <p:sp>
        <p:nvSpPr>
          <p:cNvPr id="21" name="Text 19"/>
          <p:cNvSpPr/>
          <p:nvPr/>
        </p:nvSpPr>
        <p:spPr>
          <a:xfrm>
            <a:off x="4873752" y="3803904"/>
            <a:ext cx="3749040" cy="7863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incumbent requires an analyst to prompt the query. AESIS acts the moment a transcript is released — no prompt, no wait, no missed signal.</a:t>
            </a:r>
            <a:endParaRPr lang="en-US"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AF7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11480" y="0"/>
            <a:ext cx="64008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kern="0" spc="400" dirty="0">
                <a:solidFill>
                  <a:srgbClr val="CFB9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PROPOSED AI SOLUTION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7772400" y="0"/>
            <a:ext cx="1188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4 of 8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11480" y="804672"/>
            <a:ext cx="83210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AESIS — An autonomous first responder to every financial disclosure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411480" y="1316736"/>
            <a:ext cx="2157984" cy="292608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411480" y="1316736"/>
            <a:ext cx="215798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CFB9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Modality: Text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743200" y="1316736"/>
            <a:ext cx="2157984" cy="292608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2743200" y="1316736"/>
            <a:ext cx="215798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CFB9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Approach: Agentic RAG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5074920" y="1316736"/>
            <a:ext cx="2157984" cy="292608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5074920" y="1316736"/>
            <a:ext cx="215798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CFB9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Trigger: Autonomous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411480" y="1773936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 WORKS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320040" y="2103120"/>
            <a:ext cx="2011680" cy="1883664"/>
          </a:xfrm>
          <a:prstGeom prst="rect">
            <a:avLst/>
          </a:prstGeom>
          <a:solidFill>
            <a:srgbClr val="FFFFFF"/>
          </a:solidFill>
          <a:ln w="12700">
            <a:solidFill>
              <a:srgbClr val="E0D8CC"/>
            </a:solidFill>
            <a:prstDash val="solid"/>
          </a:ln>
          <a:effectLst>
            <a:outerShdw blurRad="101600" dist="38100" dir="81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1042416" y="2194560"/>
            <a:ext cx="566928" cy="566928"/>
          </a:xfrm>
          <a:prstGeom prst="ellipse">
            <a:avLst/>
          </a:prstGeom>
          <a:solidFill>
            <a:srgbClr val="CFB991"/>
          </a:solidFill>
          <a:ln w="12700">
            <a:solidFill>
              <a:srgbClr val="CFB99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1042416" y="2194560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320040" y="2834640"/>
            <a:ext cx="20116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Ingest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429768" y="3200400"/>
            <a:ext cx="1792224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95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transcript released → AESIS auto-triggers, no analyst prompt required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2331720" y="2980944"/>
            <a:ext cx="164592" cy="54864"/>
          </a:xfrm>
          <a:prstGeom prst="rect">
            <a:avLst/>
          </a:prstGeom>
          <a:solidFill>
            <a:srgbClr val="CFB991"/>
          </a:solidFill>
          <a:ln w="12700">
            <a:solidFill>
              <a:srgbClr val="CFB99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2496312" y="2103120"/>
            <a:ext cx="2011680" cy="1883664"/>
          </a:xfrm>
          <a:prstGeom prst="rect">
            <a:avLst/>
          </a:prstGeom>
          <a:solidFill>
            <a:srgbClr val="FFFFFF"/>
          </a:solidFill>
          <a:ln w="12700">
            <a:solidFill>
              <a:srgbClr val="E0D8CC"/>
            </a:solidFill>
            <a:prstDash val="solid"/>
          </a:ln>
          <a:effectLst>
            <a:outerShdw blurRad="101600" dist="38100" dir="81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3218688" y="2194560"/>
            <a:ext cx="566928" cy="566928"/>
          </a:xfrm>
          <a:prstGeom prst="ellipse">
            <a:avLst/>
          </a:prstGeom>
          <a:solidFill>
            <a:srgbClr val="CFB991"/>
          </a:solidFill>
          <a:ln w="12700">
            <a:solidFill>
              <a:srgbClr val="CFB99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3218688" y="2194560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2496312" y="2834640"/>
            <a:ext cx="20116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Retrieve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2606040" y="3200400"/>
            <a:ext cx="1792224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95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Pulls 12 quarters of that company's historical management language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4507992" y="2980944"/>
            <a:ext cx="164592" cy="54864"/>
          </a:xfrm>
          <a:prstGeom prst="rect">
            <a:avLst/>
          </a:prstGeom>
          <a:solidFill>
            <a:srgbClr val="CFB991"/>
          </a:solidFill>
          <a:ln w="12700">
            <a:solidFill>
              <a:srgbClr val="CFB99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4672584" y="2103120"/>
            <a:ext cx="2011680" cy="1883664"/>
          </a:xfrm>
          <a:prstGeom prst="rect">
            <a:avLst/>
          </a:prstGeom>
          <a:solidFill>
            <a:srgbClr val="FFFFFF"/>
          </a:solidFill>
          <a:ln w="12700">
            <a:solidFill>
              <a:srgbClr val="E0D8CC"/>
            </a:solidFill>
            <a:prstDash val="solid"/>
          </a:ln>
          <a:effectLst>
            <a:outerShdw blurRad="101600" dist="38100" dir="81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6" name="Shape 24"/>
          <p:cNvSpPr/>
          <p:nvPr/>
        </p:nvSpPr>
        <p:spPr>
          <a:xfrm>
            <a:off x="5394960" y="2194560"/>
            <a:ext cx="566928" cy="566928"/>
          </a:xfrm>
          <a:prstGeom prst="ellipse">
            <a:avLst/>
          </a:prstGeom>
          <a:solidFill>
            <a:srgbClr val="CFB991"/>
          </a:solidFill>
          <a:ln w="12700">
            <a:solidFill>
              <a:srgbClr val="CFB99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5394960" y="2194560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4672584" y="2834640"/>
            <a:ext cx="20116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Analyse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4782312" y="3200400"/>
            <a:ext cx="1792224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95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Divergence Analysis: compares current tone against prior commitments + financials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6684264" y="2980944"/>
            <a:ext cx="164592" cy="54864"/>
          </a:xfrm>
          <a:prstGeom prst="rect">
            <a:avLst/>
          </a:prstGeom>
          <a:solidFill>
            <a:srgbClr val="CFB991"/>
          </a:solidFill>
          <a:ln w="12700">
            <a:solidFill>
              <a:srgbClr val="CFB99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Shape 29"/>
          <p:cNvSpPr/>
          <p:nvPr/>
        </p:nvSpPr>
        <p:spPr>
          <a:xfrm>
            <a:off x="6848856" y="2103120"/>
            <a:ext cx="2011680" cy="1883664"/>
          </a:xfrm>
          <a:prstGeom prst="rect">
            <a:avLst/>
          </a:prstGeom>
          <a:solidFill>
            <a:srgbClr val="FFFFFF"/>
          </a:solidFill>
          <a:ln w="12700">
            <a:solidFill>
              <a:srgbClr val="E0D8CC"/>
            </a:solidFill>
            <a:prstDash val="solid"/>
          </a:ln>
          <a:effectLst>
            <a:outerShdw blurRad="101600" dist="38100" dir="81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2" name="Shape 30"/>
          <p:cNvSpPr/>
          <p:nvPr/>
        </p:nvSpPr>
        <p:spPr>
          <a:xfrm>
            <a:off x="7571232" y="2194560"/>
            <a:ext cx="566928" cy="566928"/>
          </a:xfrm>
          <a:prstGeom prst="ellipse">
            <a:avLst/>
          </a:prstGeom>
          <a:solidFill>
            <a:srgbClr val="CFB991"/>
          </a:solidFill>
          <a:ln w="12700">
            <a:solidFill>
              <a:srgbClr val="CFB99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/>
          <p:nvPr/>
        </p:nvSpPr>
        <p:spPr>
          <a:xfrm>
            <a:off x="7571232" y="2194560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6848856" y="2834640"/>
            <a:ext cx="20116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Signal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6958584" y="3200400"/>
            <a:ext cx="1792224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95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Delivers a weighted Signal Score before the analyst opens the file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>
            <a:off x="320040" y="4133088"/>
            <a:ext cx="8503920" cy="713232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Text 35"/>
          <p:cNvSpPr/>
          <p:nvPr/>
        </p:nvSpPr>
        <p:spPr>
          <a:xfrm>
            <a:off x="502920" y="4133088"/>
            <a:ext cx="822960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200" b="1" dirty="0">
                <a:solidFill>
                  <a:srgbClr val="CFB9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Unlike Bloomberg or AlphaSense: </a:t>
            </a: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AESIS does not wait to be asked — it acts. The system outputs a Signal Score automatically the moment a transcript is released, before any analyst prompt is required.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CFB991"/>
          </a:solidFill>
          <a:ln w="12700">
            <a:solidFill>
              <a:srgbClr val="CFB99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11480" y="0"/>
            <a:ext cx="64008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kern="0" spc="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SIGNAL SCORE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7772400" y="0"/>
            <a:ext cx="1188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5 of 8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11480" y="768096"/>
            <a:ext cx="8321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i="1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weighted metric that flags when executive tone conflicts with reported financial data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320040" y="1234440"/>
            <a:ext cx="3657600" cy="3611880"/>
          </a:xfrm>
          <a:prstGeom prst="rect">
            <a:avLst/>
          </a:prstGeom>
          <a:solidFill>
            <a:srgbClr val="0D0D0D"/>
          </a:solidFill>
          <a:ln w="12700">
            <a:solidFill>
              <a:srgbClr val="CFB99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320040" y="1353312"/>
            <a:ext cx="36576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kern="0" spc="300" dirty="0">
                <a:solidFill>
                  <a:srgbClr val="CFB9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SIGNAL SCORE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960120" y="1810512"/>
            <a:ext cx="2377440" cy="2377440"/>
          </a:xfrm>
          <a:prstGeom prst="ellipse">
            <a:avLst/>
          </a:prstGeom>
          <a:solidFill>
            <a:srgbClr val="1A1A1A"/>
          </a:solidFill>
          <a:ln w="12700">
            <a:solidFill>
              <a:srgbClr val="CFB99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960120" y="1810512"/>
            <a:ext cx="2377440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5200" b="1" dirty="0">
                <a:solidFill>
                  <a:srgbClr val="CFB9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7.4</a:t>
            </a:r>
            <a:endParaRPr lang="en-US" sz="5200" dirty="0"/>
          </a:p>
          <a:p>
            <a:pPr marL="0" indent="0" algn="ctr">
              <a:buNone/>
            </a:pPr>
            <a:r>
              <a:rPr lang="en-US" sz="16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/10</a:t>
            </a:r>
            <a:endParaRPr lang="en-US" sz="5200" dirty="0"/>
          </a:p>
        </p:txBody>
      </p:sp>
      <p:sp>
        <p:nvSpPr>
          <p:cNvPr id="10" name="Text 8"/>
          <p:cNvSpPr/>
          <p:nvPr/>
        </p:nvSpPr>
        <p:spPr>
          <a:xfrm>
            <a:off x="320040" y="4315968"/>
            <a:ext cx="3657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kern="0" spc="100" dirty="0">
                <a:solidFill>
                  <a:srgbClr val="CFB9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DIVERGENCE — REVIEW FLAGGED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4297680" y="1234440"/>
            <a:ext cx="4526280" cy="768096"/>
          </a:xfrm>
          <a:prstGeom prst="rect">
            <a:avLst/>
          </a:prstGeom>
          <a:solidFill>
            <a:srgbClr val="111111"/>
          </a:solidFill>
          <a:ln w="12700">
            <a:solidFill>
              <a:srgbClr val="2A2A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4297680" y="1234440"/>
            <a:ext cx="54864" cy="768096"/>
          </a:xfrm>
          <a:prstGeom prst="rect">
            <a:avLst/>
          </a:prstGeom>
          <a:solidFill>
            <a:srgbClr val="CFB991"/>
          </a:solidFill>
          <a:ln w="12700">
            <a:solidFill>
              <a:srgbClr val="CFB99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4462272" y="1289304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Hedging Language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7406640" y="1289304"/>
            <a:ext cx="1325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CFB9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↑ +2.3σ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462272" y="1618488"/>
            <a:ext cx="42062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CFO used 'uncertain', 'challenging' 4× vs company avg of 1×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4297680" y="2130552"/>
            <a:ext cx="4526280" cy="768096"/>
          </a:xfrm>
          <a:prstGeom prst="rect">
            <a:avLst/>
          </a:prstGeom>
          <a:solidFill>
            <a:srgbClr val="111111"/>
          </a:solidFill>
          <a:ln w="12700">
            <a:solidFill>
              <a:srgbClr val="2A2A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4297680" y="2130552"/>
            <a:ext cx="54864" cy="768096"/>
          </a:xfrm>
          <a:prstGeom prst="rect">
            <a:avLst/>
          </a:prstGeom>
          <a:solidFill>
            <a:srgbClr val="CFB991"/>
          </a:solidFill>
          <a:ln w="12700">
            <a:solidFill>
              <a:srgbClr val="CFB99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4462272" y="2185416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Tone vs. Financials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7406640" y="2185416"/>
            <a:ext cx="1325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CFB9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Divergence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462272" y="2514600"/>
            <a:ext cx="42062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EPS beat reported — management avoided any forward guidance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4297680" y="3026664"/>
            <a:ext cx="4526280" cy="768096"/>
          </a:xfrm>
          <a:prstGeom prst="rect">
            <a:avLst/>
          </a:prstGeom>
          <a:solidFill>
            <a:srgbClr val="111111"/>
          </a:solidFill>
          <a:ln w="12700">
            <a:solidFill>
              <a:srgbClr val="2A2A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4297680" y="3026664"/>
            <a:ext cx="54864" cy="768096"/>
          </a:xfrm>
          <a:prstGeom prst="rect">
            <a:avLst/>
          </a:prstGeom>
          <a:solidFill>
            <a:srgbClr val="CFB991"/>
          </a:solidFill>
          <a:ln w="12700">
            <a:solidFill>
              <a:srgbClr val="CFB99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4462272" y="3081528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Q&amp;A Evasion Index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7406640" y="3081528"/>
            <a:ext cx="1325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CFB9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↑ High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4462272" y="3410712"/>
            <a:ext cx="42062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analyst questions redirected without direct answers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4297680" y="3922776"/>
            <a:ext cx="4526280" cy="768096"/>
          </a:xfrm>
          <a:prstGeom prst="rect">
            <a:avLst/>
          </a:prstGeom>
          <a:solidFill>
            <a:srgbClr val="111111"/>
          </a:solidFill>
          <a:ln w="12700">
            <a:solidFill>
              <a:srgbClr val="2A2A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Shape 25"/>
          <p:cNvSpPr/>
          <p:nvPr/>
        </p:nvSpPr>
        <p:spPr>
          <a:xfrm>
            <a:off x="4297680" y="3922776"/>
            <a:ext cx="54864" cy="768096"/>
          </a:xfrm>
          <a:prstGeom prst="rect">
            <a:avLst/>
          </a:prstGeom>
          <a:solidFill>
            <a:srgbClr val="CFB991"/>
          </a:solidFill>
          <a:ln w="12700">
            <a:solidFill>
              <a:srgbClr val="CFB99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4462272" y="397764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Historical Baseline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7406640" y="3977640"/>
            <a:ext cx="1325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CFB9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Quarters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4462272" y="4306824"/>
            <a:ext cx="42062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Cross-referenced against full prior management language history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AF7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11480" y="0"/>
            <a:ext cx="64008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kern="0" spc="400" dirty="0">
                <a:solidFill>
                  <a:srgbClr val="CFB9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&amp; FEASIBILITY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7772400" y="0"/>
            <a:ext cx="1188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6 of 8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11480" y="822960"/>
            <a:ext cx="3931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SOURCES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320040" y="1170432"/>
            <a:ext cx="402336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0D8CC"/>
            </a:solidFill>
            <a:prstDash val="solid"/>
          </a:ln>
          <a:effectLst>
            <a:outerShdw blurRad="101600" dist="38100" dir="81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320040" y="1170432"/>
            <a:ext cx="64008" cy="822960"/>
          </a:xfrm>
          <a:prstGeom prst="rect">
            <a:avLst/>
          </a:prstGeom>
          <a:solidFill>
            <a:srgbClr val="CFB991"/>
          </a:solidFill>
          <a:ln w="12700">
            <a:solidFill>
              <a:srgbClr val="CFB99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502920" y="1234440"/>
            <a:ext cx="3749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 EDGAR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02920" y="1481328"/>
            <a:ext cx="37490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B89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8-K, 10-K, 10-Q Filings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502920" y="1682496"/>
            <a:ext cx="3749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Regulatory filings — authoritative baseline for all transcript sourcing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320040" y="2157984"/>
            <a:ext cx="402336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0D8CC"/>
            </a:solidFill>
            <a:prstDash val="solid"/>
          </a:ln>
          <a:effectLst>
            <a:outerShdw blurRad="101600" dist="38100" dir="81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320040" y="2157984"/>
            <a:ext cx="64008" cy="822960"/>
          </a:xfrm>
          <a:prstGeom prst="rect">
            <a:avLst/>
          </a:prstGeom>
          <a:solidFill>
            <a:srgbClr val="CFB991"/>
          </a:solidFill>
          <a:ln w="12700">
            <a:solidFill>
              <a:srgbClr val="CFB99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502920" y="2221992"/>
            <a:ext cx="3749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Yahoo Finance / Providers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502920" y="2468880"/>
            <a:ext cx="37490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B89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Earnings Call Transcripts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502920" y="2670048"/>
            <a:ext cx="3749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management commentary for live signal detection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320040" y="3145536"/>
            <a:ext cx="402336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0D8CC"/>
            </a:solidFill>
            <a:prstDash val="solid"/>
          </a:ln>
          <a:effectLst>
            <a:outerShdw blurRad="101600" dist="38100" dir="81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320040" y="3145536"/>
            <a:ext cx="64008" cy="822960"/>
          </a:xfrm>
          <a:prstGeom prst="rect">
            <a:avLst/>
          </a:prstGeom>
          <a:solidFill>
            <a:srgbClr val="CFB991"/>
          </a:solidFill>
          <a:ln w="12700">
            <a:solidFill>
              <a:srgbClr val="CFB99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502920" y="3209544"/>
            <a:ext cx="3749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 Datasets (Kaggle)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502920" y="3456432"/>
            <a:ext cx="37490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B89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Historical Transcript Corpus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502920" y="3657600"/>
            <a:ext cx="3749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Multi-cycle backtesting corpus — validated prototype processes 10–15 calls/week autonomously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320040" y="4169664"/>
            <a:ext cx="4023360" cy="640080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411480" y="4169664"/>
            <a:ext cx="3840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200" b="1" dirty="0">
                <a:solidFill>
                  <a:srgbClr val="CFB9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Prototype validated: </a:t>
            </a: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10–15 transcripts/week processed autonomously — technical readiness confirmed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4754880" y="822960"/>
            <a:ext cx="4069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&amp; MITIGATION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754880" y="1170432"/>
            <a:ext cx="914400" cy="822960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4754880" y="1170432"/>
            <a:ext cx="914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CFB9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Technical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5687568" y="1170432"/>
            <a:ext cx="1572768" cy="822960"/>
          </a:xfrm>
          <a:prstGeom prst="rect">
            <a:avLst/>
          </a:prstGeom>
          <a:solidFill>
            <a:srgbClr val="F0EDE8"/>
          </a:solidFill>
          <a:ln w="12700">
            <a:solidFill>
              <a:srgbClr val="E0D8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5760720" y="1170432"/>
            <a:ext cx="14630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9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Unofficial APIs</a:t>
            </a:r>
            <a:endParaRPr lang="en-US" sz="95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9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may delay data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7278624" y="1170432"/>
            <a:ext cx="1545336" cy="822960"/>
          </a:xfrm>
          <a:prstGeom prst="rect">
            <a:avLst/>
          </a:prstGeom>
          <a:solidFill>
            <a:srgbClr val="F5EDD8"/>
          </a:solidFill>
          <a:ln w="12700">
            <a:solidFill>
              <a:srgbClr val="CFB99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7351776" y="1170432"/>
            <a:ext cx="144475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9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Multi-source ingestion</a:t>
            </a:r>
            <a:endParaRPr lang="en-US" sz="95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9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validation checks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4754880" y="2194560"/>
            <a:ext cx="914400" cy="822960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4754880" y="2194560"/>
            <a:ext cx="914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CFB9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Ethical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5687568" y="2194560"/>
            <a:ext cx="1572768" cy="822960"/>
          </a:xfrm>
          <a:prstGeom prst="rect">
            <a:avLst/>
          </a:prstGeom>
          <a:solidFill>
            <a:srgbClr val="F0EDE8"/>
          </a:solidFill>
          <a:ln w="12700">
            <a:solidFill>
              <a:srgbClr val="E0D8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/>
          <p:nvPr/>
        </p:nvSpPr>
        <p:spPr>
          <a:xfrm>
            <a:off x="5760720" y="2194560"/>
            <a:ext cx="14630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9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bias in</a:t>
            </a:r>
            <a:endParaRPr lang="en-US" sz="95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9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tone interpretation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7278624" y="2194560"/>
            <a:ext cx="1545336" cy="822960"/>
          </a:xfrm>
          <a:prstGeom prst="rect">
            <a:avLst/>
          </a:prstGeom>
          <a:solidFill>
            <a:srgbClr val="F5EDD8"/>
          </a:solidFill>
          <a:ln w="12700">
            <a:solidFill>
              <a:srgbClr val="CFB99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Text 33"/>
          <p:cNvSpPr/>
          <p:nvPr/>
        </p:nvSpPr>
        <p:spPr>
          <a:xfrm>
            <a:off x="7351776" y="2194560"/>
            <a:ext cx="144475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9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Hybrid models +</a:t>
            </a:r>
            <a:endParaRPr lang="en-US" sz="95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9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confidence thresholds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>
            <a:off x="4754880" y="3218688"/>
            <a:ext cx="914400" cy="822960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Text 35"/>
          <p:cNvSpPr/>
          <p:nvPr/>
        </p:nvSpPr>
        <p:spPr>
          <a:xfrm>
            <a:off x="4754880" y="3218688"/>
            <a:ext cx="914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CFB9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Operational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5687568" y="3218688"/>
            <a:ext cx="1572768" cy="822960"/>
          </a:xfrm>
          <a:prstGeom prst="rect">
            <a:avLst/>
          </a:prstGeom>
          <a:solidFill>
            <a:srgbClr val="F0EDE8"/>
          </a:solidFill>
          <a:ln w="12700">
            <a:solidFill>
              <a:srgbClr val="E0D8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Text 37"/>
          <p:cNvSpPr/>
          <p:nvPr/>
        </p:nvSpPr>
        <p:spPr>
          <a:xfrm>
            <a:off x="5760720" y="3218688"/>
            <a:ext cx="14630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9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Analyst trust</a:t>
            </a:r>
            <a:endParaRPr lang="en-US" sz="95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9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adoption</a:t>
            </a:r>
            <a:endParaRPr lang="en-US" sz="950" dirty="0"/>
          </a:p>
        </p:txBody>
      </p:sp>
      <p:sp>
        <p:nvSpPr>
          <p:cNvPr id="40" name="Shape 38"/>
          <p:cNvSpPr/>
          <p:nvPr/>
        </p:nvSpPr>
        <p:spPr>
          <a:xfrm>
            <a:off x="7278624" y="3218688"/>
            <a:ext cx="1545336" cy="822960"/>
          </a:xfrm>
          <a:prstGeom prst="rect">
            <a:avLst/>
          </a:prstGeom>
          <a:solidFill>
            <a:srgbClr val="F5EDD8"/>
          </a:solidFill>
          <a:ln w="12700">
            <a:solidFill>
              <a:srgbClr val="CFB99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" name="Text 39"/>
          <p:cNvSpPr/>
          <p:nvPr/>
        </p:nvSpPr>
        <p:spPr>
          <a:xfrm>
            <a:off x="7351776" y="3218688"/>
            <a:ext cx="144475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9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Explainability layer traces every signal to source sentences + human-in-the-loop validation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CFB991"/>
          </a:solidFill>
          <a:ln w="12700">
            <a:solidFill>
              <a:srgbClr val="CFB99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11480" y="0"/>
            <a:ext cx="64008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kern="0" spc="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ROADMAP &amp; KPIs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7772400" y="0"/>
            <a:ext cx="1188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7 of 8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320040" y="804672"/>
            <a:ext cx="2697480" cy="2615184"/>
          </a:xfrm>
          <a:prstGeom prst="rect">
            <a:avLst/>
          </a:prstGeom>
          <a:solidFill>
            <a:srgbClr val="111111"/>
          </a:solidFill>
          <a:ln w="12700">
            <a:solidFill>
              <a:srgbClr val="CFB99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320040" y="804672"/>
            <a:ext cx="2697480" cy="54864"/>
          </a:xfrm>
          <a:prstGeom prst="rect">
            <a:avLst/>
          </a:prstGeom>
          <a:solidFill>
            <a:srgbClr val="CFB991"/>
          </a:solidFill>
          <a:ln w="12700">
            <a:solidFill>
              <a:srgbClr val="CFB99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320040" y="859536"/>
            <a:ext cx="269748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CFB9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320040" y="1152144"/>
            <a:ext cx="26974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Months 1–2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320040" y="1408176"/>
            <a:ext cx="26974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Ingestion &amp;</a:t>
            </a:r>
            <a:endParaRPr lang="en-US" sz="1450" dirty="0"/>
          </a:p>
          <a:p>
            <a:pPr marL="0" indent="0" algn="ctr">
              <a:lnSpc>
                <a:spcPct val="115000"/>
              </a:lnSpc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Infrastructure</a:t>
            </a:r>
            <a:endParaRPr lang="en-US" sz="1450" dirty="0"/>
          </a:p>
        </p:txBody>
      </p:sp>
      <p:sp>
        <p:nvSpPr>
          <p:cNvPr id="10" name="Text 8"/>
          <p:cNvSpPr/>
          <p:nvPr/>
        </p:nvSpPr>
        <p:spPr>
          <a:xfrm>
            <a:off x="484632" y="1947672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Data pipeline build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484632" y="2368296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SEC EDGAR integration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484632" y="278892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Transcript preprocessing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3017520" y="2011680"/>
            <a:ext cx="182880" cy="45720"/>
          </a:xfrm>
          <a:prstGeom prst="rect">
            <a:avLst/>
          </a:prstGeom>
          <a:solidFill>
            <a:srgbClr val="CFB991"/>
          </a:solidFill>
          <a:ln w="12700">
            <a:solidFill>
              <a:srgbClr val="CFB99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3200400" y="804672"/>
            <a:ext cx="2697480" cy="2615184"/>
          </a:xfrm>
          <a:prstGeom prst="rect">
            <a:avLst/>
          </a:prstGeom>
          <a:solidFill>
            <a:srgbClr val="111111"/>
          </a:solidFill>
          <a:ln w="12700">
            <a:solidFill>
              <a:srgbClr val="CFB99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3200400" y="804672"/>
            <a:ext cx="2697480" cy="54864"/>
          </a:xfrm>
          <a:prstGeom prst="rect">
            <a:avLst/>
          </a:prstGeom>
          <a:solidFill>
            <a:srgbClr val="CFB991"/>
          </a:solidFill>
          <a:ln w="12700">
            <a:solidFill>
              <a:srgbClr val="CFB99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3200400" y="859536"/>
            <a:ext cx="269748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CFB9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3200400" y="1152144"/>
            <a:ext cx="26974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Months 3–5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3200400" y="1408176"/>
            <a:ext cx="26974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Signal Engine</a:t>
            </a:r>
            <a:endParaRPr lang="en-US" sz="1450" dirty="0"/>
          </a:p>
        </p:txBody>
      </p:sp>
      <p:sp>
        <p:nvSpPr>
          <p:cNvPr id="19" name="Text 17"/>
          <p:cNvSpPr/>
          <p:nvPr/>
        </p:nvSpPr>
        <p:spPr>
          <a:xfrm>
            <a:off x="3364992" y="1947672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Divergence Analysis model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3364992" y="2368296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Signal Score generation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3364992" y="278892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Prototype backtesting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5897880" y="2011680"/>
            <a:ext cx="182880" cy="45720"/>
          </a:xfrm>
          <a:prstGeom prst="rect">
            <a:avLst/>
          </a:prstGeom>
          <a:solidFill>
            <a:srgbClr val="CFB991"/>
          </a:solidFill>
          <a:ln w="12700">
            <a:solidFill>
              <a:srgbClr val="CFB99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6080760" y="804672"/>
            <a:ext cx="2697480" cy="2615184"/>
          </a:xfrm>
          <a:prstGeom prst="rect">
            <a:avLst/>
          </a:prstGeom>
          <a:solidFill>
            <a:srgbClr val="111111"/>
          </a:solidFill>
          <a:ln w="12700">
            <a:solidFill>
              <a:srgbClr val="CFB99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Shape 22"/>
          <p:cNvSpPr/>
          <p:nvPr/>
        </p:nvSpPr>
        <p:spPr>
          <a:xfrm>
            <a:off x="6080760" y="804672"/>
            <a:ext cx="2697480" cy="54864"/>
          </a:xfrm>
          <a:prstGeom prst="rect">
            <a:avLst/>
          </a:prstGeom>
          <a:solidFill>
            <a:srgbClr val="CFB991"/>
          </a:solidFill>
          <a:ln w="12700">
            <a:solidFill>
              <a:srgbClr val="CFB99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6080760" y="859536"/>
            <a:ext cx="269748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CFB9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3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6080760" y="1152144"/>
            <a:ext cx="26974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Months 6–8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6080760" y="1408176"/>
            <a:ext cx="26974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Integration &amp;</a:t>
            </a:r>
            <a:endParaRPr lang="en-US" sz="1450" dirty="0"/>
          </a:p>
          <a:p>
            <a:pPr marL="0" indent="0" algn="ctr">
              <a:lnSpc>
                <a:spcPct val="115000"/>
              </a:lnSpc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Deployment</a:t>
            </a:r>
            <a:endParaRPr lang="en-US" sz="1450" dirty="0"/>
          </a:p>
        </p:txBody>
      </p:sp>
      <p:sp>
        <p:nvSpPr>
          <p:cNvPr id="28" name="Text 26"/>
          <p:cNvSpPr/>
          <p:nvPr/>
        </p:nvSpPr>
        <p:spPr>
          <a:xfrm>
            <a:off x="6245352" y="1947672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Analyst workflow integration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6245352" y="2368296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Explainability layer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6245352" y="278892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Stakeholder rollout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320040" y="3566160"/>
            <a:ext cx="8503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kern="0" spc="300" dirty="0">
                <a:solidFill>
                  <a:srgbClr val="CFB9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MEASURABLE SUCCESS METRICS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320040" y="3913632"/>
            <a:ext cx="2029968" cy="987552"/>
          </a:xfrm>
          <a:prstGeom prst="rect">
            <a:avLst/>
          </a:prstGeom>
          <a:solidFill>
            <a:srgbClr val="CFB991"/>
          </a:solidFill>
          <a:ln w="12700">
            <a:solidFill>
              <a:srgbClr val="B89A6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/>
          <p:nvPr/>
        </p:nvSpPr>
        <p:spPr>
          <a:xfrm>
            <a:off x="320040" y="3950208"/>
            <a:ext cx="2029968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80%</a:t>
            </a:r>
            <a:endParaRPr lang="en-US" sz="2600" dirty="0"/>
          </a:p>
        </p:txBody>
      </p:sp>
      <p:sp>
        <p:nvSpPr>
          <p:cNvPr id="34" name="Text 32"/>
          <p:cNvSpPr/>
          <p:nvPr/>
        </p:nvSpPr>
        <p:spPr>
          <a:xfrm>
            <a:off x="320040" y="4352544"/>
            <a:ext cx="202996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Faster Per-Transcript</a:t>
            </a:r>
            <a:endParaRPr lang="en-US" sz="950" dirty="0"/>
          </a:p>
        </p:txBody>
      </p:sp>
      <p:sp>
        <p:nvSpPr>
          <p:cNvPr id="35" name="Text 33"/>
          <p:cNvSpPr/>
          <p:nvPr/>
        </p:nvSpPr>
        <p:spPr>
          <a:xfrm>
            <a:off x="320040" y="4562856"/>
            <a:ext cx="202996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 min → 5 min · scales analyst capacity</a:t>
            </a:r>
            <a:endParaRPr lang="en-US" sz="850" dirty="0"/>
          </a:p>
        </p:txBody>
      </p:sp>
      <p:sp>
        <p:nvSpPr>
          <p:cNvPr id="36" name="Shape 34"/>
          <p:cNvSpPr/>
          <p:nvPr/>
        </p:nvSpPr>
        <p:spPr>
          <a:xfrm>
            <a:off x="2496312" y="3913632"/>
            <a:ext cx="2029968" cy="987552"/>
          </a:xfrm>
          <a:prstGeom prst="rect">
            <a:avLst/>
          </a:prstGeom>
          <a:solidFill>
            <a:srgbClr val="CFB991"/>
          </a:solidFill>
          <a:ln w="12700">
            <a:solidFill>
              <a:srgbClr val="B89A6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Text 35"/>
          <p:cNvSpPr/>
          <p:nvPr/>
        </p:nvSpPr>
        <p:spPr>
          <a:xfrm>
            <a:off x="2496312" y="3950208"/>
            <a:ext cx="2029968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60%</a:t>
            </a:r>
            <a:endParaRPr lang="en-US" sz="2600" dirty="0"/>
          </a:p>
        </p:txBody>
      </p:sp>
      <p:sp>
        <p:nvSpPr>
          <p:cNvPr id="38" name="Text 36"/>
          <p:cNvSpPr/>
          <p:nvPr/>
        </p:nvSpPr>
        <p:spPr>
          <a:xfrm>
            <a:off x="2496312" y="4352544"/>
            <a:ext cx="202996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Directional Accuracy</a:t>
            </a:r>
            <a:endParaRPr lang="en-US" sz="950" dirty="0"/>
          </a:p>
        </p:txBody>
      </p:sp>
      <p:sp>
        <p:nvSpPr>
          <p:cNvPr id="39" name="Text 37"/>
          <p:cNvSpPr/>
          <p:nvPr/>
        </p:nvSpPr>
        <p:spPr>
          <a:xfrm>
            <a:off x="2496312" y="4562856"/>
            <a:ext cx="202996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vs. 50% baseline · informing position decisions</a:t>
            </a:r>
            <a:endParaRPr lang="en-US" sz="850" dirty="0"/>
          </a:p>
        </p:txBody>
      </p:sp>
      <p:sp>
        <p:nvSpPr>
          <p:cNvPr id="40" name="Shape 38"/>
          <p:cNvSpPr/>
          <p:nvPr/>
        </p:nvSpPr>
        <p:spPr>
          <a:xfrm>
            <a:off x="4672584" y="3913632"/>
            <a:ext cx="2029968" cy="987552"/>
          </a:xfrm>
          <a:prstGeom prst="rect">
            <a:avLst/>
          </a:prstGeom>
          <a:solidFill>
            <a:srgbClr val="1A1A1A"/>
          </a:solidFill>
          <a:ln w="12700">
            <a:solidFill>
              <a:srgbClr val="CFB99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" name="Text 39"/>
          <p:cNvSpPr/>
          <p:nvPr/>
        </p:nvSpPr>
        <p:spPr>
          <a:xfrm>
            <a:off x="4672584" y="3950208"/>
            <a:ext cx="2029968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CFB9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+0.5%</a:t>
            </a:r>
            <a:endParaRPr lang="en-US" sz="2600" dirty="0"/>
          </a:p>
        </p:txBody>
      </p:sp>
      <p:sp>
        <p:nvSpPr>
          <p:cNvPr id="42" name="Text 40"/>
          <p:cNvSpPr/>
          <p:nvPr/>
        </p:nvSpPr>
        <p:spPr>
          <a:xfrm>
            <a:off x="4672584" y="4352544"/>
            <a:ext cx="202996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 Lift / $1M AUM</a:t>
            </a:r>
            <a:endParaRPr lang="en-US" sz="950" dirty="0"/>
          </a:p>
        </p:txBody>
      </p:sp>
      <p:sp>
        <p:nvSpPr>
          <p:cNvPr id="43" name="Text 41"/>
          <p:cNvSpPr/>
          <p:nvPr/>
        </p:nvSpPr>
        <p:spPr>
          <a:xfrm>
            <a:off x="4672584" y="4562856"/>
            <a:ext cx="202996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Simulated · compounding across earnings seasons</a:t>
            </a:r>
            <a:endParaRPr lang="en-US" sz="850" dirty="0"/>
          </a:p>
        </p:txBody>
      </p:sp>
      <p:sp>
        <p:nvSpPr>
          <p:cNvPr id="44" name="Shape 42"/>
          <p:cNvSpPr/>
          <p:nvPr/>
        </p:nvSpPr>
        <p:spPr>
          <a:xfrm>
            <a:off x="6848856" y="3913632"/>
            <a:ext cx="2029968" cy="987552"/>
          </a:xfrm>
          <a:prstGeom prst="rect">
            <a:avLst/>
          </a:prstGeom>
          <a:solidFill>
            <a:srgbClr val="1A1A1A"/>
          </a:solidFill>
          <a:ln w="12700">
            <a:solidFill>
              <a:srgbClr val="CFB99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5" name="Text 43"/>
          <p:cNvSpPr/>
          <p:nvPr/>
        </p:nvSpPr>
        <p:spPr>
          <a:xfrm>
            <a:off x="6848856" y="3950208"/>
            <a:ext cx="2029968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CFB9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10–15</a:t>
            </a:r>
            <a:endParaRPr lang="en-US" sz="2600" dirty="0"/>
          </a:p>
        </p:txBody>
      </p:sp>
      <p:sp>
        <p:nvSpPr>
          <p:cNvPr id="46" name="Text 44"/>
          <p:cNvSpPr/>
          <p:nvPr/>
        </p:nvSpPr>
        <p:spPr>
          <a:xfrm>
            <a:off x="6848856" y="4352544"/>
            <a:ext cx="202996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Calls/Week Auto-Processed</a:t>
            </a:r>
            <a:endParaRPr lang="en-US" sz="950" dirty="0"/>
          </a:p>
        </p:txBody>
      </p:sp>
      <p:sp>
        <p:nvSpPr>
          <p:cNvPr id="47" name="Text 45"/>
          <p:cNvSpPr/>
          <p:nvPr/>
        </p:nvSpPr>
        <p:spPr>
          <a:xfrm>
            <a:off x="6848856" y="4562856"/>
            <a:ext cx="202996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Prototype confirmed · no manual trigger</a:t>
            </a:r>
            <a:endParaRPr lang="en-US" sz="8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AF7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11480" y="0"/>
            <a:ext cx="64008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kern="0" spc="400" dirty="0">
                <a:solidFill>
                  <a:srgbClr val="CFB9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AESIS. WHY NOW.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7772400" y="0"/>
            <a:ext cx="1188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8 of 8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320040" y="786384"/>
            <a:ext cx="8503920" cy="896112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502920" y="786384"/>
            <a:ext cx="8229600" cy="8961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600" b="1" dirty="0">
                <a:solidFill>
                  <a:srgbClr val="CFB9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Investment alpha is hiding in plain text. </a:t>
            </a: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AESIS is the first fully autonomous system that reads it before you do — no prompt, no wait, no missed signal.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320040" y="1828800"/>
            <a:ext cx="2697480" cy="1920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0D8CC"/>
            </a:solidFill>
            <a:prstDash val="solid"/>
          </a:ln>
          <a:effectLst>
            <a:outerShdw blurRad="101600" dist="38100" dir="81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320040" y="1828800"/>
            <a:ext cx="2697480" cy="54864"/>
          </a:xfrm>
          <a:prstGeom prst="rect">
            <a:avLst/>
          </a:prstGeom>
          <a:solidFill>
            <a:srgbClr val="CFB991"/>
          </a:solidFill>
          <a:ln w="12700">
            <a:solidFill>
              <a:srgbClr val="CFB99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457200" y="1920240"/>
            <a:ext cx="2423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Academic Validation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57200" y="2304288"/>
            <a:ext cx="242316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0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Journal of Finance and Review of Financial Studies confirm linguistic patterns in earnings calls are statistically associated with post-earnings returns. The signal is real and measurable.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200400" y="1828800"/>
            <a:ext cx="2697480" cy="1920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0D8CC"/>
            </a:solidFill>
            <a:prstDash val="solid"/>
          </a:ln>
          <a:effectLst>
            <a:outerShdw blurRad="101600" dist="38100" dir="81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3200400" y="1828800"/>
            <a:ext cx="2697480" cy="54864"/>
          </a:xfrm>
          <a:prstGeom prst="rect">
            <a:avLst/>
          </a:prstGeom>
          <a:solidFill>
            <a:srgbClr val="CFB991"/>
          </a:solidFill>
          <a:ln w="12700">
            <a:solidFill>
              <a:srgbClr val="CFB99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3337560" y="1920240"/>
            <a:ext cx="2423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Market Proof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3337560" y="2304288"/>
            <a:ext cx="242316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0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$1.2B+ invested in transcript intelligence (AlphaSense $650M + Kensho $550M) confirms institutional demand. The remaining gap is full autonomy — which AESIS closes.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6080760" y="1828800"/>
            <a:ext cx="2697480" cy="1920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0D8CC"/>
            </a:solidFill>
            <a:prstDash val="solid"/>
          </a:ln>
          <a:effectLst>
            <a:outerShdw blurRad="101600" dist="38100" dir="81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6080760" y="1828800"/>
            <a:ext cx="2697480" cy="54864"/>
          </a:xfrm>
          <a:prstGeom prst="rect">
            <a:avLst/>
          </a:prstGeom>
          <a:solidFill>
            <a:srgbClr val="CFB991"/>
          </a:solidFill>
          <a:ln w="12700">
            <a:solidFill>
              <a:srgbClr val="CFB99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6217920" y="1920240"/>
            <a:ext cx="2423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Technically Feasible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6217920" y="2304288"/>
            <a:ext cx="242316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0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Prototype pipeline confirmed at 10–15 transcripts/week autonomously. Agentic RAG on SEC EDGAR + transcript data is proven architecture with managed risk.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320040" y="3913632"/>
            <a:ext cx="8503920" cy="932688"/>
          </a:xfrm>
          <a:prstGeom prst="rect">
            <a:avLst/>
          </a:prstGeom>
          <a:solidFill>
            <a:srgbClr val="F5EDD8"/>
          </a:solidFill>
          <a:ln w="12700">
            <a:solidFill>
              <a:srgbClr val="CFB99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320040" y="3913632"/>
            <a:ext cx="73152" cy="932688"/>
          </a:xfrm>
          <a:prstGeom prst="rect">
            <a:avLst/>
          </a:prstGeom>
          <a:solidFill>
            <a:srgbClr val="CFB991"/>
          </a:solidFill>
          <a:ln w="12700">
            <a:solidFill>
              <a:srgbClr val="CFB99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502920" y="3913632"/>
            <a:ext cx="8229600" cy="9326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3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Recommendation: </a:t>
            </a: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Approve AESIS for phased development. Phase 1 (Months 1–2) delivers a production-ready data pipeline and validates signal detection before any model spend. Scaled across a 500-company coverage universe, the efficiency and alpha-generation gains compound materially each earnings season. The risk of inaction outweighs the risk of building.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942</Words>
  <Application>Microsoft Macintosh PowerPoint</Application>
  <PresentationFormat>On-screen Show (16:9)</PresentationFormat>
  <Paragraphs>161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AESIS — Agentic Earnings Signal Intelligence System</dc:title>
  <dc:subject>PptxGenJS Presentation</dc:subject>
  <dc:creator>PptxGenJS</dc:creator>
  <cp:lastModifiedBy>Sana Majeed</cp:lastModifiedBy>
  <cp:revision>2</cp:revision>
  <dcterms:created xsi:type="dcterms:W3CDTF">2026-04-24T12:08:21Z</dcterms:created>
  <dcterms:modified xsi:type="dcterms:W3CDTF">2026-04-24T12:12:41Z</dcterms:modified>
</cp:coreProperties>
</file>